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8D13CC-8AFB-4610-C0F6-D3DCAA93DA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810E4B1-A9C8-66DF-9DA4-5671B2EDE5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66DBB3F-7FA3-BB1B-A973-40F67E8B7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CE077-6429-4169-A7A6-BD780528C521}" type="datetimeFigureOut">
              <a:rPr kumimoji="1" lang="ja-JP" altLang="en-US" smtClean="0"/>
              <a:t>2025/11/28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9E163C-3769-8008-EB0A-530670ED1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5EBEA60-567B-C09E-350B-063EF813E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94E99-5180-4C0A-9FA5-316D0069B5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5093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47B2D6-B74B-1D4A-140C-5EE23EC1E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8A615FC-42EC-8491-8C24-4D0B5ED91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614F8C5-5D10-53D0-3476-2406D2AF4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CE077-6429-4169-A7A6-BD780528C521}" type="datetimeFigureOut">
              <a:rPr kumimoji="1" lang="ja-JP" altLang="en-US" smtClean="0"/>
              <a:t>2025/11/28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378C66C-792E-1251-7D7B-85C4B63CE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ECBEFEE-C0AF-E407-BC8D-8B9A07A49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94E99-5180-4C0A-9FA5-316D0069B5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4498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065FC8-890E-0B23-8CA2-7030DDA40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70ACE4F-D76F-AA15-BCC2-28EAB6ED65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2DF0DD7-01D2-D19E-58F1-49822AB5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CE077-6429-4169-A7A6-BD780528C521}" type="datetimeFigureOut">
              <a:rPr kumimoji="1" lang="ja-JP" altLang="en-US" smtClean="0"/>
              <a:t>2025/11/28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E6A6A-0707-5A86-40E1-58D58B059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C2F6621-5F78-0FCC-858B-4B2E1B3E1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94E99-5180-4C0A-9FA5-316D0069B5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7096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E77945-1310-63AA-C722-E8DFD7406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2CB10A4-9885-D90F-8FC6-EBE70A09F1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C2DE3EC-9B64-5DE0-7D0C-309A8BC07B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39DA22E-6C40-8504-2DC6-1EEADB567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CE077-6429-4169-A7A6-BD780528C521}" type="datetimeFigureOut">
              <a:rPr kumimoji="1" lang="ja-JP" altLang="en-US" smtClean="0"/>
              <a:t>2025/11/28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55462B7-9311-24D0-BFB0-BCAC7130F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A13F190-EEB4-6D2B-4B9B-062E4AC9B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94E99-5180-4C0A-9FA5-316D0069B5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2209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69A7D1-6BBB-77E2-97EC-F78AD1447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CA8BAF4-F6AB-D0C1-71CE-623101B7B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1294172-2FBD-D9FA-1377-CD4C2588C4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26866EF-60AD-BDFC-9EE1-840AA4EF4F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818EA6F-8137-B5AC-E664-B7B8303ACB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0BC0CE6-AC32-DB4E-6256-51F6749E0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CE077-6429-4169-A7A6-BD780528C521}" type="datetimeFigureOut">
              <a:rPr kumimoji="1" lang="ja-JP" altLang="en-US" smtClean="0"/>
              <a:t>2025/11/28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98A3E61-6559-FAB8-3A52-1380FBD2F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63C51BF-7272-9938-68EB-17D205DEB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94E99-5180-4C0A-9FA5-316D0069B5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4831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BDA474-C20C-B500-2E28-AB9CD5386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B285C6C-78F4-081D-5D8C-F24C3F5F6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CE077-6429-4169-A7A6-BD780528C521}" type="datetimeFigureOut">
              <a:rPr kumimoji="1" lang="ja-JP" altLang="en-US" smtClean="0"/>
              <a:t>2025/11/28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489FEF2-0485-8765-23FD-D27DC80E2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EE75B7E-8A9F-5487-AF18-FC2A09878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94E99-5180-4C0A-9FA5-316D0069B5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9203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ADEAFC1-1FA4-66DC-DA6D-374CD5576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CE077-6429-4169-A7A6-BD780528C521}" type="datetimeFigureOut">
              <a:rPr kumimoji="1" lang="ja-JP" altLang="en-US" smtClean="0"/>
              <a:t>2025/11/28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737DD4E-CCC4-868A-FAFB-E00A6750F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B243E14-E906-B4A1-FEA3-38349DB84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94E99-5180-4C0A-9FA5-316D0069B5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5460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B19BC1-F2B6-321E-B9C3-A766C1833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27C6717-8E28-FECB-C467-38448304E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C516E35-3F78-425A-4941-EC897A9FE9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F20EA68-1791-E7B8-7FF4-387761D82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CE077-6429-4169-A7A6-BD780528C521}" type="datetimeFigureOut">
              <a:rPr kumimoji="1" lang="ja-JP" altLang="en-US" smtClean="0"/>
              <a:t>2025/11/28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9EDB878-4CB2-3DA0-CE9B-54EF487B0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D765B9B-2E9A-68C4-D3C3-8ECAB714B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94E99-5180-4C0A-9FA5-316D0069B5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5367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0A164E-C235-5CE9-38D1-7C78DA9E3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2C3CB40-BC86-31B8-0467-0D07015DAD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E9D1A99-6795-9D68-1238-405E2F05F7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C0408A1-98C7-130C-DD71-5EC2226BF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CE077-6429-4169-A7A6-BD780528C521}" type="datetimeFigureOut">
              <a:rPr kumimoji="1" lang="ja-JP" altLang="en-US" smtClean="0"/>
              <a:t>2025/11/28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204F748-9629-A668-CF29-070A76D80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0AAA14F-CC23-087E-4024-810941E93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94E99-5180-4C0A-9FA5-316D0069B5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4588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56473B-92C7-62FB-1E9D-1890C03CB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C309ED4-841E-367B-32C8-3FEA5F179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E41C970-0C96-8F07-554B-611B49F13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CE077-6429-4169-A7A6-BD780528C521}" type="datetimeFigureOut">
              <a:rPr kumimoji="1" lang="ja-JP" altLang="en-US" smtClean="0"/>
              <a:t>2025/11/28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4FC12CE-63B8-C61D-9F88-562731505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B2BD5B4-4922-EFEC-C8D6-A3915BC05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94E99-5180-4C0A-9FA5-316D0069B5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2152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F8B2CB9-2D20-3DA4-2F6C-9E49765DC0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48EABDB-DC7F-0B23-2F2F-28FDFDDCFF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8949397-5C12-4CE2-67B2-5B02F0992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CE077-6429-4169-A7A6-BD780528C521}" type="datetimeFigureOut">
              <a:rPr kumimoji="1" lang="ja-JP" altLang="en-US" smtClean="0"/>
              <a:t>2025/11/28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6F403F-42D5-6886-FF33-3E2C8C91D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A577009-62F5-BAC6-CF4D-DE9B5DEC9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94E99-5180-4C0A-9FA5-316D0069B5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8587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82D8542-DBA0-2B63-8BE8-EC99F722B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536D9D0-4E40-72ED-9B80-0224CB870E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E15FEB-0CFB-C08D-4D13-F0E16DBA55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9CE077-6429-4169-A7A6-BD780528C521}" type="datetimeFigureOut">
              <a:rPr kumimoji="1" lang="ja-JP" altLang="en-US" smtClean="0"/>
              <a:t>2025/11/28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65DA9E-A35B-5C72-B275-675B1E10EE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3C339F9-ED92-3627-0696-D80E078086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594E99-5180-4C0A-9FA5-316D0069B5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5373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E111F92-A101-960C-B660-E571F34869B7}"/>
              </a:ext>
            </a:extLst>
          </p:cNvPr>
          <p:cNvSpPr txBox="1"/>
          <p:nvPr/>
        </p:nvSpPr>
        <p:spPr>
          <a:xfrm>
            <a:off x="89807" y="671461"/>
            <a:ext cx="1250768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【</a:t>
            </a:r>
            <a:r>
              <a:rPr lang="ja-JP" altLang="en-US" dirty="0"/>
              <a:t>考えていること・織り込んでいること</a:t>
            </a:r>
            <a:r>
              <a:rPr lang="en-US" altLang="ja-JP" dirty="0"/>
              <a:t>】</a:t>
            </a:r>
          </a:p>
          <a:p>
            <a:r>
              <a:rPr lang="en-US" altLang="ja-JP" dirty="0"/>
              <a:t>&lt;</a:t>
            </a:r>
            <a:r>
              <a:rPr lang="ja-JP" altLang="en-US" dirty="0"/>
              <a:t>アルゴリズム</a:t>
            </a:r>
            <a:r>
              <a:rPr lang="en-US" altLang="ja-JP" dirty="0"/>
              <a:t>&gt;</a:t>
            </a:r>
          </a:p>
          <a:p>
            <a:r>
              <a:rPr lang="en-US" altLang="ja-JP" dirty="0"/>
              <a:t>PLS</a:t>
            </a:r>
            <a:r>
              <a:rPr lang="ja-JP" altLang="en-US" dirty="0"/>
              <a:t>回帰：</a:t>
            </a:r>
            <a:r>
              <a:rPr lang="en-US" altLang="ja-JP" dirty="0"/>
              <a:t>4</a:t>
            </a:r>
            <a:r>
              <a:rPr lang="ja-JP" altLang="en-US" dirty="0"/>
              <a:t>つの荷重センサ間に相関がある（前に動くと右前と左前のセンサ値上昇）ため、潜在変数を構築するマルチコに強いモデルを採用</a:t>
            </a:r>
          </a:p>
          <a:p>
            <a:r>
              <a:rPr lang="ja-JP" altLang="en-US" dirty="0"/>
              <a:t>ハイパラは潜在変数の数</a:t>
            </a:r>
            <a:r>
              <a:rPr lang="en-US" altLang="ja-JP" dirty="0"/>
              <a:t>R</a:t>
            </a:r>
            <a:r>
              <a:rPr lang="ja-JP" altLang="en-US" dirty="0"/>
              <a:t>、交差検証で調整</a:t>
            </a:r>
          </a:p>
          <a:p>
            <a:endParaRPr lang="ja-JP" altLang="en-US" dirty="0"/>
          </a:p>
          <a:p>
            <a:r>
              <a:rPr lang="en-US" altLang="ja-JP" dirty="0"/>
              <a:t>&lt;</a:t>
            </a:r>
            <a:r>
              <a:rPr lang="ja-JP" altLang="en-US" dirty="0"/>
              <a:t>予測対象</a:t>
            </a:r>
            <a:r>
              <a:rPr lang="en-US" altLang="ja-JP" dirty="0"/>
              <a:t>&gt;</a:t>
            </a:r>
          </a:p>
          <a:p>
            <a:r>
              <a:rPr lang="ja-JP" altLang="en-US" dirty="0"/>
              <a:t>オフセット（座り位置等の個人差）を考慮して変化量</a:t>
            </a:r>
            <a:r>
              <a:rPr lang="en-US" altLang="ja-JP" dirty="0" err="1"/>
              <a:t>Δy</a:t>
            </a:r>
            <a:r>
              <a:rPr lang="ja-JP" altLang="en-US" dirty="0"/>
              <a:t>を予測対象とする</a:t>
            </a:r>
          </a:p>
          <a:p>
            <a:endParaRPr lang="ja-JP" altLang="en-US" dirty="0"/>
          </a:p>
          <a:p>
            <a:r>
              <a:rPr lang="en-US" altLang="ja-JP" dirty="0"/>
              <a:t>&lt;</a:t>
            </a:r>
            <a:r>
              <a:rPr lang="ja-JP" altLang="en-US" dirty="0"/>
              <a:t>特徴量エンジニアリング</a:t>
            </a:r>
            <a:r>
              <a:rPr lang="en-US" altLang="ja-JP" dirty="0"/>
              <a:t>&gt;</a:t>
            </a:r>
          </a:p>
          <a:p>
            <a:r>
              <a:rPr lang="ja-JP" altLang="en-US" dirty="0"/>
              <a:t>ラグ特徴量：操作⇒</a:t>
            </a:r>
            <a:r>
              <a:rPr lang="en-US" altLang="ja-JP" dirty="0"/>
              <a:t>cop</a:t>
            </a:r>
            <a:r>
              <a:rPr lang="ja-JP" altLang="en-US" dirty="0"/>
              <a:t>の順で伝わるはず、</a:t>
            </a:r>
            <a:r>
              <a:rPr lang="en-US" altLang="ja-JP" dirty="0"/>
              <a:t>X(t)-y(t)</a:t>
            </a:r>
            <a:r>
              <a:rPr lang="ja-JP" altLang="en-US" dirty="0"/>
              <a:t>以外の関係も学習　</a:t>
            </a:r>
            <a:r>
              <a:rPr lang="en-US" altLang="ja-JP" dirty="0"/>
              <a:t>(</a:t>
            </a:r>
            <a:r>
              <a:rPr lang="ja-JP" altLang="en-US" dirty="0"/>
              <a:t>ラグはハイパラ調整するが個人差あるので広くとる</a:t>
            </a:r>
            <a:r>
              <a:rPr lang="en-US" altLang="ja-JP" dirty="0"/>
              <a:t>)</a:t>
            </a:r>
          </a:p>
          <a:p>
            <a:r>
              <a:rPr lang="ja-JP" altLang="en-US" dirty="0"/>
              <a:t>ミスるとリークする系の処理：長期ドリフトの除去、標準化は</a:t>
            </a:r>
            <a:r>
              <a:rPr lang="en-US" altLang="ja-JP" dirty="0"/>
              <a:t>OK</a:t>
            </a:r>
          </a:p>
          <a:p>
            <a:r>
              <a:rPr lang="ja-JP" altLang="en-US" dirty="0"/>
              <a:t>非線形性⇒構造的には線形の範囲、</a:t>
            </a:r>
            <a:r>
              <a:rPr lang="en-US" altLang="ja-JP" dirty="0" err="1"/>
              <a:t>pedal×steer</a:t>
            </a:r>
            <a:r>
              <a:rPr lang="ja-JP" altLang="en-US" dirty="0"/>
              <a:t>とか単純なものはいれている</a:t>
            </a:r>
          </a:p>
          <a:p>
            <a:endParaRPr lang="ja-JP" altLang="en-US" dirty="0"/>
          </a:p>
          <a:p>
            <a:r>
              <a:rPr lang="en-US" altLang="ja-JP" dirty="0"/>
              <a:t>&lt;</a:t>
            </a:r>
            <a:r>
              <a:rPr lang="ja-JP" altLang="en-US" dirty="0"/>
              <a:t>検証時</a:t>
            </a:r>
            <a:r>
              <a:rPr lang="en-US" altLang="ja-JP" dirty="0"/>
              <a:t>&gt;</a:t>
            </a:r>
          </a:p>
          <a:p>
            <a:r>
              <a:rPr lang="ja-JP" altLang="en-US" dirty="0"/>
              <a:t>未知の人物への適用能力を見るため、特定被験者丸々を、学習から完全に除外してテスト専用とした。</a:t>
            </a:r>
          </a:p>
          <a:p>
            <a:r>
              <a:rPr lang="ja-JP" altLang="en-US" dirty="0"/>
              <a:t>説明変数がちゃんと予測に効いているか確認（時間崩して評価値下がるか）</a:t>
            </a:r>
          </a:p>
        </p:txBody>
      </p:sp>
    </p:spTree>
    <p:extLst>
      <p:ext uri="{BB962C8B-B14F-4D97-AF65-F5344CB8AC3E}">
        <p14:creationId xmlns:p14="http://schemas.microsoft.com/office/powerpoint/2010/main" val="1507781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9078A80-8557-B444-E82F-363E5A5CAF96}"/>
              </a:ext>
            </a:extLst>
          </p:cNvPr>
          <p:cNvSpPr txBox="1"/>
          <p:nvPr/>
        </p:nvSpPr>
        <p:spPr>
          <a:xfrm>
            <a:off x="303439" y="844800"/>
            <a:ext cx="576943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ラグ特徴量</a:t>
            </a:r>
            <a:endParaRPr lang="en-US" altLang="ja-JP" dirty="0"/>
          </a:p>
          <a:p>
            <a:r>
              <a:rPr lang="ja-JP" altLang="en-US" dirty="0"/>
              <a:t>目的：操作⇒</a:t>
            </a:r>
            <a:r>
              <a:rPr lang="en-US" altLang="ja-JP" dirty="0"/>
              <a:t>cop</a:t>
            </a:r>
            <a:r>
              <a:rPr lang="ja-JP" altLang="en-US" dirty="0"/>
              <a:t>の順で伝わるはず、</a:t>
            </a:r>
            <a:r>
              <a:rPr lang="en-US" altLang="ja-JP" dirty="0"/>
              <a:t>X(t)-y(t)</a:t>
            </a:r>
            <a:r>
              <a:rPr lang="ja-JP" altLang="en-US" dirty="0"/>
              <a:t>以外の関係も学習したい。</a:t>
            </a:r>
            <a:endParaRPr lang="en-US" altLang="ja-JP" dirty="0"/>
          </a:p>
          <a:p>
            <a:endParaRPr lang="en-US" altLang="ja-JP" dirty="0"/>
          </a:p>
          <a:p>
            <a:r>
              <a:rPr lang="en-US" altLang="ja-JP" dirty="0"/>
              <a:t>lag</a:t>
            </a:r>
            <a:r>
              <a:rPr lang="ja-JP" altLang="en-US" dirty="0"/>
              <a:t>生成が広すぎると計算が重いので、相互相関と交差検証で、最適なラグ付近に絞る</a:t>
            </a:r>
            <a:endParaRPr lang="en-US" altLang="ja-JP" dirty="0"/>
          </a:p>
          <a:p>
            <a:r>
              <a:rPr lang="ja-JP" altLang="en-US" dirty="0"/>
              <a:t>（原因と結果の時間ずれがある程度合う所</a:t>
            </a:r>
            <a:r>
              <a:rPr lang="en-US" altLang="ja-JP" dirty="0"/>
              <a:t>)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33C8D34-55C3-ECC8-C151-134FC1A8D62A}"/>
              </a:ext>
            </a:extLst>
          </p:cNvPr>
          <p:cNvSpPr txBox="1"/>
          <p:nvPr/>
        </p:nvSpPr>
        <p:spPr>
          <a:xfrm>
            <a:off x="7790768" y="893605"/>
            <a:ext cx="52822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PLS</a:t>
            </a:r>
            <a:r>
              <a:rPr lang="ja-JP" altLang="en-US" dirty="0"/>
              <a:t>ハイパラ潜在変数の数</a:t>
            </a:r>
            <a:r>
              <a:rPr lang="en-US" altLang="ja-JP" dirty="0"/>
              <a:t>R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FC74310-0E23-73BD-551C-FA9E1A413F22}"/>
              </a:ext>
            </a:extLst>
          </p:cNvPr>
          <p:cNvSpPr txBox="1"/>
          <p:nvPr/>
        </p:nvSpPr>
        <p:spPr>
          <a:xfrm>
            <a:off x="140835" y="313356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ハイパーパラメータ</a:t>
            </a:r>
          </a:p>
        </p:txBody>
      </p:sp>
      <p:pic>
        <p:nvPicPr>
          <p:cNvPr id="17" name="Picture 2" descr="交差検証（Python実装）を徹底解説！図解・サンプル実装コードあり">
            <a:extLst>
              <a:ext uri="{FF2B5EF4-FFF2-40B4-BE49-F238E27FC236}">
                <a16:creationId xmlns:a16="http://schemas.microsoft.com/office/drawing/2014/main" id="{9DF44DC2-B11A-CFD3-0039-37248B2EB3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79" r="40926" b="12096"/>
          <a:stretch>
            <a:fillRect/>
          </a:stretch>
        </p:blipFill>
        <p:spPr bwMode="auto">
          <a:xfrm>
            <a:off x="1666277" y="4165961"/>
            <a:ext cx="2444936" cy="1506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F76EB32-C8E5-C35B-C600-77CD57EAEA85}"/>
              </a:ext>
            </a:extLst>
          </p:cNvPr>
          <p:cNvSpPr txBox="1"/>
          <p:nvPr/>
        </p:nvSpPr>
        <p:spPr>
          <a:xfrm>
            <a:off x="1609127" y="3888962"/>
            <a:ext cx="914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sub1</a:t>
            </a:r>
            <a:endParaRPr kumimoji="1" lang="ja-JP" altLang="en-US" sz="12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FDF88D2A-7EDA-ADAE-DB59-8D2155307C05}"/>
              </a:ext>
            </a:extLst>
          </p:cNvPr>
          <p:cNvSpPr txBox="1"/>
          <p:nvPr/>
        </p:nvSpPr>
        <p:spPr>
          <a:xfrm>
            <a:off x="3557670" y="3883206"/>
            <a:ext cx="914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sub6</a:t>
            </a:r>
            <a:endParaRPr kumimoji="1" lang="ja-JP" altLang="en-US" sz="1200" dirty="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B22BA6B6-8343-2EDA-F66B-1EFDF6B0EE5E}"/>
              </a:ext>
            </a:extLst>
          </p:cNvPr>
          <p:cNvSpPr txBox="1"/>
          <p:nvPr/>
        </p:nvSpPr>
        <p:spPr>
          <a:xfrm>
            <a:off x="4947819" y="4335895"/>
            <a:ext cx="914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sub7</a:t>
            </a:r>
            <a:endParaRPr kumimoji="1" lang="ja-JP" altLang="en-US" sz="1200" dirty="0"/>
          </a:p>
        </p:txBody>
      </p:sp>
      <p:pic>
        <p:nvPicPr>
          <p:cNvPr id="21" name="Picture 2" descr="交差検証（Python実装）を徹底解説！図解・サンプル実装コードあり">
            <a:extLst>
              <a:ext uri="{FF2B5EF4-FFF2-40B4-BE49-F238E27FC236}">
                <a16:creationId xmlns:a16="http://schemas.microsoft.com/office/drawing/2014/main" id="{59CEA9C1-23D9-DFB9-AF22-83935E38DF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018" t="8079" r="22988" b="77248"/>
          <a:stretch>
            <a:fillRect/>
          </a:stretch>
        </p:blipFill>
        <p:spPr bwMode="auto">
          <a:xfrm>
            <a:off x="5115453" y="4612894"/>
            <a:ext cx="496393" cy="276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BF8207B-3CE5-0126-F20A-81CEFAEE99C5}"/>
              </a:ext>
            </a:extLst>
          </p:cNvPr>
          <p:cNvSpPr txBox="1"/>
          <p:nvPr/>
        </p:nvSpPr>
        <p:spPr>
          <a:xfrm>
            <a:off x="2123477" y="3877449"/>
            <a:ext cx="914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sub2</a:t>
            </a:r>
            <a:endParaRPr kumimoji="1" lang="ja-JP" altLang="en-US" sz="1200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D2E94F43-51B7-6730-A170-C23F2811EFBB}"/>
              </a:ext>
            </a:extLst>
          </p:cNvPr>
          <p:cNvSpPr txBox="1"/>
          <p:nvPr/>
        </p:nvSpPr>
        <p:spPr>
          <a:xfrm>
            <a:off x="4947819" y="4873255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/>
              <a:t>未知の人に通用するか</a:t>
            </a:r>
            <a:endParaRPr kumimoji="1" lang="ja-JP" altLang="en-US" sz="1200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4E60E57D-2301-E620-D5F0-AD06747F2FE1}"/>
              </a:ext>
            </a:extLst>
          </p:cNvPr>
          <p:cNvSpPr txBox="1"/>
          <p:nvPr/>
        </p:nvSpPr>
        <p:spPr>
          <a:xfrm>
            <a:off x="1551777" y="5786600"/>
            <a:ext cx="26739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/>
              <a:t>「ラグ決め」も「成分数決め」も「学習」も全部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541D1053-25A4-FF70-FBA0-419D5193D0EA}"/>
              </a:ext>
            </a:extLst>
          </p:cNvPr>
          <p:cNvSpPr txBox="1"/>
          <p:nvPr/>
        </p:nvSpPr>
        <p:spPr>
          <a:xfrm>
            <a:off x="303439" y="2969038"/>
            <a:ext cx="66069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①</a:t>
            </a:r>
            <a:r>
              <a:rPr lang="en-US" altLang="ja-JP" dirty="0"/>
              <a:t>X</a:t>
            </a:r>
            <a:r>
              <a:rPr lang="ja-JP" altLang="en-US" dirty="0"/>
              <a:t>と</a:t>
            </a:r>
            <a:r>
              <a:rPr lang="en-US" altLang="ja-JP" dirty="0"/>
              <a:t>y</a:t>
            </a:r>
            <a:r>
              <a:rPr lang="ja-JP" altLang="en-US" dirty="0"/>
              <a:t>の相互相関で基準ラグ出す</a:t>
            </a:r>
            <a:r>
              <a:rPr lang="en-US" altLang="ja-JP" dirty="0"/>
              <a:t>(</a:t>
            </a:r>
            <a:r>
              <a:rPr lang="ja-JP" altLang="en-US" dirty="0"/>
              <a:t>ある程度の目星をつける</a:t>
            </a:r>
            <a:r>
              <a:rPr lang="en-US" altLang="ja-JP" dirty="0"/>
              <a:t>)</a:t>
            </a:r>
          </a:p>
          <a:p>
            <a:r>
              <a:rPr lang="ja-JP" altLang="en-US" dirty="0"/>
              <a:t>②基準ラグのその周辺を探索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6BF809B3-100A-7931-B0B6-2148B36B7967}"/>
              </a:ext>
            </a:extLst>
          </p:cNvPr>
          <p:cNvSpPr txBox="1"/>
          <p:nvPr/>
        </p:nvSpPr>
        <p:spPr>
          <a:xfrm>
            <a:off x="4156133" y="4532922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ベスト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0" name="矢印: 右 29">
            <a:extLst>
              <a:ext uri="{FF2B5EF4-FFF2-40B4-BE49-F238E27FC236}">
                <a16:creationId xmlns:a16="http://schemas.microsoft.com/office/drawing/2014/main" id="{1C159477-19E4-6048-1204-6F7B3A462971}"/>
              </a:ext>
            </a:extLst>
          </p:cNvPr>
          <p:cNvSpPr/>
          <p:nvPr/>
        </p:nvSpPr>
        <p:spPr>
          <a:xfrm>
            <a:off x="4490619" y="4919422"/>
            <a:ext cx="339758" cy="2769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6" name="テキスト ボックス 1035">
            <a:extLst>
              <a:ext uri="{FF2B5EF4-FFF2-40B4-BE49-F238E27FC236}">
                <a16:creationId xmlns:a16="http://schemas.microsoft.com/office/drawing/2014/main" id="{07D44416-CD7B-587E-2DE6-2F7A1A544CFF}"/>
              </a:ext>
            </a:extLst>
          </p:cNvPr>
          <p:cNvSpPr txBox="1"/>
          <p:nvPr/>
        </p:nvSpPr>
        <p:spPr>
          <a:xfrm>
            <a:off x="6148694" y="6048210"/>
            <a:ext cx="517579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50" dirty="0">
                <a:solidFill>
                  <a:srgbClr val="FF0000"/>
                </a:solidFill>
              </a:rPr>
              <a:t>※</a:t>
            </a:r>
            <a:r>
              <a:rPr kumimoji="1" lang="ja-JP" altLang="en-US" sz="1050" dirty="0">
                <a:solidFill>
                  <a:srgbClr val="FF0000"/>
                </a:solidFill>
              </a:rPr>
              <a:t>シート圧センサが返ってきてか</a:t>
            </a:r>
            <a:r>
              <a:rPr lang="ja-JP" altLang="en-US" sz="1050" dirty="0">
                <a:solidFill>
                  <a:srgbClr val="FF0000"/>
                </a:solidFill>
              </a:rPr>
              <a:t>らデータとるので、最後にまとめて全データ流して最終モデルとする予定。一旦これで</a:t>
            </a:r>
            <a:r>
              <a:rPr lang="en-US" altLang="ja-JP" sz="1050" dirty="0">
                <a:solidFill>
                  <a:srgbClr val="FF0000"/>
                </a:solidFill>
              </a:rPr>
              <a:t>GO</a:t>
            </a:r>
            <a:r>
              <a:rPr lang="ja-JP" altLang="en-US" sz="1050" dirty="0">
                <a:solidFill>
                  <a:srgbClr val="FF0000"/>
                </a:solidFill>
              </a:rPr>
              <a:t>！</a:t>
            </a:r>
            <a:endParaRPr kumimoji="1" lang="ja-JP" altLang="en-US" sz="1050" dirty="0">
              <a:solidFill>
                <a:srgbClr val="FF0000"/>
              </a:solidFill>
            </a:endParaRPr>
          </a:p>
        </p:txBody>
      </p:sp>
      <p:sp>
        <p:nvSpPr>
          <p:cNvPr id="1038" name="テキスト ボックス 1037">
            <a:extLst>
              <a:ext uri="{FF2B5EF4-FFF2-40B4-BE49-F238E27FC236}">
                <a16:creationId xmlns:a16="http://schemas.microsoft.com/office/drawing/2014/main" id="{46A2B27B-9A6D-A851-C639-DF8FD26BE415}"/>
              </a:ext>
            </a:extLst>
          </p:cNvPr>
          <p:cNvSpPr txBox="1"/>
          <p:nvPr/>
        </p:nvSpPr>
        <p:spPr>
          <a:xfrm>
            <a:off x="7228060" y="4751393"/>
            <a:ext cx="38168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全員分を未知の人に入れ替えてテストして平均</a:t>
            </a:r>
            <a:r>
              <a:rPr lang="en-US" altLang="ja-JP" dirty="0"/>
              <a:t>R2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78119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16741C6-AAE4-0875-E61F-E2F34023F674}"/>
              </a:ext>
            </a:extLst>
          </p:cNvPr>
          <p:cNvSpPr txBox="1"/>
          <p:nvPr/>
        </p:nvSpPr>
        <p:spPr>
          <a:xfrm>
            <a:off x="157161" y="291333"/>
            <a:ext cx="115014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結果①　真値</a:t>
            </a:r>
            <a:r>
              <a:rPr lang="en-US" altLang="ja-JP" dirty="0"/>
              <a:t>vs</a:t>
            </a:r>
            <a:r>
              <a:rPr lang="ja-JP" altLang="en-US" dirty="0"/>
              <a:t>予測　</a:t>
            </a:r>
            <a:r>
              <a:rPr lang="en-US" altLang="ja-JP" dirty="0"/>
              <a:t>(R2)</a:t>
            </a:r>
            <a:r>
              <a:rPr lang="ja-JP" altLang="en-US" dirty="0"/>
              <a:t>　</a:t>
            </a:r>
            <a:r>
              <a:rPr lang="en-US" altLang="ja-JP" dirty="0"/>
              <a:t>1</a:t>
            </a:r>
            <a:r>
              <a:rPr lang="ja-JP" altLang="en-US" dirty="0"/>
              <a:t>名分</a:t>
            </a:r>
            <a:endParaRPr lang="en-US" altLang="ja-JP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05DD327E-ABA1-A032-EA1E-95F54EE6F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915" y="1058608"/>
            <a:ext cx="10908323" cy="2857116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B5C1C6F3-6DE4-BF98-7394-A6C0245C4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604" y="3915724"/>
            <a:ext cx="10644553" cy="2788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280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67087E7-8460-7D7F-E1F8-8F143694E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907" y="619873"/>
            <a:ext cx="9536723" cy="2497866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F02E6376-3616-6EC5-25F2-9A4BE1021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098" y="3498487"/>
            <a:ext cx="10204854" cy="267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226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D5C82E2-A5E7-CFE5-7169-DBB8881B6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69" y="413239"/>
            <a:ext cx="10775511" cy="2822330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C5C02E8-D580-C078-61E2-689CED267B4B}"/>
              </a:ext>
            </a:extLst>
          </p:cNvPr>
          <p:cNvSpPr txBox="1"/>
          <p:nvPr/>
        </p:nvSpPr>
        <p:spPr>
          <a:xfrm>
            <a:off x="3763891" y="4426077"/>
            <a:ext cx="38168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全員分を未知の人に入れ替えてテストして平均</a:t>
            </a:r>
            <a:r>
              <a:rPr lang="en-US" altLang="ja-JP" dirty="0"/>
              <a:t>R2</a:t>
            </a:r>
          </a:p>
          <a:p>
            <a:r>
              <a:rPr lang="ja-JP" altLang="en-US" dirty="0"/>
              <a:t>⇒表用意中</a:t>
            </a:r>
          </a:p>
        </p:txBody>
      </p:sp>
    </p:spTree>
    <p:extLst>
      <p:ext uri="{BB962C8B-B14F-4D97-AF65-F5344CB8AC3E}">
        <p14:creationId xmlns:p14="http://schemas.microsoft.com/office/powerpoint/2010/main" val="3668979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9A8F918-C768-E30F-9525-C8530B6C87A0}"/>
              </a:ext>
            </a:extLst>
          </p:cNvPr>
          <p:cNvSpPr txBox="1"/>
          <p:nvPr/>
        </p:nvSpPr>
        <p:spPr>
          <a:xfrm>
            <a:off x="367079" y="685772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特徴量重要度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8566415-7472-2A1D-547C-C76A41C5E455}"/>
              </a:ext>
            </a:extLst>
          </p:cNvPr>
          <p:cNvSpPr txBox="1"/>
          <p:nvPr/>
        </p:nvSpPr>
        <p:spPr>
          <a:xfrm>
            <a:off x="1521801" y="1951838"/>
            <a:ext cx="20478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図用意中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63FF5F8-0C5A-E472-22A1-D8661C9D5CDD}"/>
              </a:ext>
            </a:extLst>
          </p:cNvPr>
          <p:cNvSpPr txBox="1"/>
          <p:nvPr/>
        </p:nvSpPr>
        <p:spPr>
          <a:xfrm>
            <a:off x="7053992" y="1925462"/>
            <a:ext cx="384736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参考情報：</a:t>
            </a:r>
            <a:endParaRPr lang="en-US" altLang="ja-JP" dirty="0"/>
          </a:p>
          <a:p>
            <a:r>
              <a:rPr lang="ja-JP" altLang="en-US" dirty="0"/>
              <a:t>まだ大きな動きメインに取り組んでいるため</a:t>
            </a:r>
          </a:p>
        </p:txBody>
      </p:sp>
    </p:spTree>
    <p:extLst>
      <p:ext uri="{BB962C8B-B14F-4D97-AF65-F5344CB8AC3E}">
        <p14:creationId xmlns:p14="http://schemas.microsoft.com/office/powerpoint/2010/main" val="126831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98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410</Words>
  <Application>Microsoft Office PowerPoint</Application>
  <PresentationFormat>ワイド画面</PresentationFormat>
  <Paragraphs>41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有理生 佐藤</dc:creator>
  <cp:lastModifiedBy>有理生 佐藤</cp:lastModifiedBy>
  <cp:revision>5</cp:revision>
  <dcterms:created xsi:type="dcterms:W3CDTF">2025-11-27T20:54:18Z</dcterms:created>
  <dcterms:modified xsi:type="dcterms:W3CDTF">2025-11-27T22:43:28Z</dcterms:modified>
</cp:coreProperties>
</file>